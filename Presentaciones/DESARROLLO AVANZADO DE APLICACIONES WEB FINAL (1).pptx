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62b297fc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62b297fc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62b297fc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62b297fc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62b297fc9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62b297fc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62b297fc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62b297fc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265100"/>
            <a:ext cx="5017500" cy="18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 AVANZADO DE APLICACIONES WEB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GONZALO ARROYO PEREZ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PRINCIPAL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204050"/>
            <a:ext cx="7038900" cy="32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objetivo principal del proyecto es desarrollar una aplicación web orientada a la gestión y análisis de entrenamientos deportivos, basada en una arquitectura de microservicios.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 aplicación permite registrar entrenamientos, procesar datos procedentes de distintas fuentes y generar analíticas avanzadas, ofreciendo tanto una interfaz web HTML5 como una interfaz programática documentada mediante OpenAPI.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563" y="2962688"/>
            <a:ext cx="239077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1100" y="3162713"/>
            <a:ext cx="3028950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Funcionalidades, APIs y modelo de datos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266975" y="1081950"/>
            <a:ext cx="7038900" cy="40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Funcionalidades principales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Registro y consulta de entrenamientos y ejercicios.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Cálculo de KPIs de entrenamiento (volumen, repeticiones, series).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Generación de informes analíticos por rangos de fechas.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Persistencia del historial de informes.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Consumo de datos desde una API externa.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APIs REST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Core API (Node.js)</a:t>
            </a:r>
            <a:br>
              <a:rPr b="1" lang="es" sz="1100"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latin typeface="Arial"/>
                <a:ea typeface="Arial"/>
                <a:cs typeface="Arial"/>
                <a:sym typeface="Arial"/>
              </a:rPr>
              <a:t> Gestión de entrenamientos y acceso a datos relacionales.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Analytics API (Python – FastAPI)</a:t>
            </a:r>
            <a:br>
              <a:rPr b="1" lang="es" sz="1100"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latin typeface="Arial"/>
                <a:ea typeface="Arial"/>
                <a:cs typeface="Arial"/>
                <a:sym typeface="Arial"/>
              </a:rPr>
              <a:t> Cálculo de analíticas y gestión del historial de informes.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Modelo de datos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MySQL (relacional):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entrenamientos, ejercicios, series, relaciones estructuradas.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MongoDB (no relacional):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informes analíticos y resultados agregados.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y tecnologías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980200"/>
            <a:ext cx="7038900" cy="41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402">
                <a:latin typeface="Arial"/>
                <a:ea typeface="Arial"/>
                <a:cs typeface="Arial"/>
                <a:sym typeface="Arial"/>
              </a:rPr>
              <a:t>Arquitectura</a:t>
            </a:r>
            <a:endParaRPr b="1" sz="3402">
              <a:latin typeface="Arial"/>
              <a:ea typeface="Arial"/>
              <a:cs typeface="Arial"/>
              <a:sym typeface="Arial"/>
            </a:endParaRPr>
          </a:p>
          <a:p>
            <a:pPr indent="-28262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3402">
                <a:latin typeface="Arial"/>
                <a:ea typeface="Arial"/>
                <a:cs typeface="Arial"/>
                <a:sym typeface="Arial"/>
              </a:rPr>
              <a:t>Arquitectura basada en </a:t>
            </a:r>
            <a:r>
              <a:rPr b="1" lang="es" sz="3402">
                <a:latin typeface="Arial"/>
                <a:ea typeface="Arial"/>
                <a:cs typeface="Arial"/>
                <a:sym typeface="Arial"/>
              </a:rPr>
              <a:t>microservicios</a:t>
            </a:r>
            <a:r>
              <a:rPr lang="es" sz="3402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3402">
                <a:latin typeface="Arial"/>
                <a:ea typeface="Arial"/>
                <a:cs typeface="Arial"/>
                <a:sym typeface="Arial"/>
              </a:rPr>
            </a:br>
            <a:endParaRPr sz="3402">
              <a:latin typeface="Arial"/>
              <a:ea typeface="Arial"/>
              <a:cs typeface="Arial"/>
              <a:sym typeface="Arial"/>
            </a:endParaRPr>
          </a:p>
          <a:p>
            <a:pPr indent="-28262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" sz="3402">
                <a:latin typeface="Arial"/>
                <a:ea typeface="Arial"/>
                <a:cs typeface="Arial"/>
                <a:sym typeface="Arial"/>
              </a:rPr>
              <a:t>API Gateway</a:t>
            </a:r>
            <a:r>
              <a:rPr lang="es" sz="3402">
                <a:latin typeface="Arial"/>
                <a:ea typeface="Arial"/>
                <a:cs typeface="Arial"/>
                <a:sym typeface="Arial"/>
              </a:rPr>
              <a:t> central que delega las peticiones a los distintos servicios.</a:t>
            </a:r>
            <a:br>
              <a:rPr lang="es" sz="3402">
                <a:latin typeface="Arial"/>
                <a:ea typeface="Arial"/>
                <a:cs typeface="Arial"/>
                <a:sym typeface="Arial"/>
              </a:rPr>
            </a:br>
            <a:endParaRPr sz="3402">
              <a:latin typeface="Arial"/>
              <a:ea typeface="Arial"/>
              <a:cs typeface="Arial"/>
              <a:sym typeface="Arial"/>
            </a:endParaRPr>
          </a:p>
          <a:p>
            <a:pPr indent="-28262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3402">
                <a:latin typeface="Arial"/>
                <a:ea typeface="Arial"/>
                <a:cs typeface="Arial"/>
                <a:sym typeface="Arial"/>
              </a:rPr>
              <a:t>Comunicación entre servicios mediante APIs RESTful.</a:t>
            </a:r>
            <a:br>
              <a:rPr lang="es" sz="3402">
                <a:latin typeface="Arial"/>
                <a:ea typeface="Arial"/>
                <a:cs typeface="Arial"/>
                <a:sym typeface="Arial"/>
              </a:rPr>
            </a:br>
            <a:endParaRPr sz="340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402">
                <a:latin typeface="Arial"/>
                <a:ea typeface="Arial"/>
                <a:cs typeface="Arial"/>
                <a:sym typeface="Arial"/>
              </a:rPr>
              <a:t>Componentes</a:t>
            </a:r>
            <a:endParaRPr b="1" sz="3402">
              <a:latin typeface="Arial"/>
              <a:ea typeface="Arial"/>
              <a:cs typeface="Arial"/>
              <a:sym typeface="Arial"/>
            </a:endParaRPr>
          </a:p>
          <a:p>
            <a:pPr indent="-28262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3402">
                <a:latin typeface="Arial"/>
                <a:ea typeface="Arial"/>
                <a:cs typeface="Arial"/>
                <a:sym typeface="Arial"/>
              </a:rPr>
              <a:t>Frontend web: </a:t>
            </a:r>
            <a:r>
              <a:rPr b="1" lang="es" sz="3402">
                <a:latin typeface="Arial"/>
                <a:ea typeface="Arial"/>
                <a:cs typeface="Arial"/>
                <a:sym typeface="Arial"/>
              </a:rPr>
              <a:t>Single Page Application (SPA)</a:t>
            </a:r>
            <a:r>
              <a:rPr lang="es" sz="3402">
                <a:latin typeface="Arial"/>
                <a:ea typeface="Arial"/>
                <a:cs typeface="Arial"/>
                <a:sym typeface="Arial"/>
              </a:rPr>
              <a:t> desarrollada en Angular.</a:t>
            </a:r>
            <a:br>
              <a:rPr lang="es" sz="3402">
                <a:latin typeface="Arial"/>
                <a:ea typeface="Arial"/>
                <a:cs typeface="Arial"/>
                <a:sym typeface="Arial"/>
              </a:rPr>
            </a:br>
            <a:endParaRPr sz="3402">
              <a:latin typeface="Arial"/>
              <a:ea typeface="Arial"/>
              <a:cs typeface="Arial"/>
              <a:sym typeface="Arial"/>
            </a:endParaRPr>
          </a:p>
          <a:p>
            <a:pPr indent="-28262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3402">
                <a:latin typeface="Arial"/>
                <a:ea typeface="Arial"/>
                <a:cs typeface="Arial"/>
                <a:sym typeface="Arial"/>
              </a:rPr>
              <a:t>Core API: microservicio REST en </a:t>
            </a:r>
            <a:r>
              <a:rPr b="1" lang="es" sz="3402">
                <a:latin typeface="Arial"/>
                <a:ea typeface="Arial"/>
                <a:cs typeface="Arial"/>
                <a:sym typeface="Arial"/>
              </a:rPr>
              <a:t>Node.js</a:t>
            </a:r>
            <a:r>
              <a:rPr lang="es" sz="3402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3402">
                <a:latin typeface="Arial"/>
                <a:ea typeface="Arial"/>
                <a:cs typeface="Arial"/>
                <a:sym typeface="Arial"/>
              </a:rPr>
            </a:br>
            <a:endParaRPr sz="3402">
              <a:latin typeface="Arial"/>
              <a:ea typeface="Arial"/>
              <a:cs typeface="Arial"/>
              <a:sym typeface="Arial"/>
            </a:endParaRPr>
          </a:p>
          <a:p>
            <a:pPr indent="-28262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3402">
                <a:latin typeface="Arial"/>
                <a:ea typeface="Arial"/>
                <a:cs typeface="Arial"/>
                <a:sym typeface="Arial"/>
              </a:rPr>
              <a:t>Analytics API: microservicio REST en </a:t>
            </a:r>
            <a:r>
              <a:rPr b="1" lang="es" sz="3402">
                <a:latin typeface="Arial"/>
                <a:ea typeface="Arial"/>
                <a:cs typeface="Arial"/>
                <a:sym typeface="Arial"/>
              </a:rPr>
              <a:t>Python (FastAPI)</a:t>
            </a:r>
            <a:r>
              <a:rPr lang="es" sz="3402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3402">
                <a:latin typeface="Arial"/>
                <a:ea typeface="Arial"/>
                <a:cs typeface="Arial"/>
                <a:sym typeface="Arial"/>
              </a:rPr>
            </a:br>
            <a:endParaRPr sz="3402">
              <a:latin typeface="Arial"/>
              <a:ea typeface="Arial"/>
              <a:cs typeface="Arial"/>
              <a:sym typeface="Arial"/>
            </a:endParaRPr>
          </a:p>
          <a:p>
            <a:pPr indent="-28262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3402">
                <a:latin typeface="Arial"/>
                <a:ea typeface="Arial"/>
                <a:cs typeface="Arial"/>
                <a:sym typeface="Arial"/>
              </a:rPr>
              <a:t>Bases de datos: MySQL y MongoDB.</a:t>
            </a:r>
            <a:br>
              <a:rPr lang="es" sz="3402">
                <a:latin typeface="Arial"/>
                <a:ea typeface="Arial"/>
                <a:cs typeface="Arial"/>
                <a:sym typeface="Arial"/>
              </a:rPr>
            </a:br>
            <a:endParaRPr sz="3402">
              <a:latin typeface="Arial"/>
              <a:ea typeface="Arial"/>
              <a:cs typeface="Arial"/>
              <a:sym typeface="Arial"/>
            </a:endParaRPr>
          </a:p>
          <a:p>
            <a:pPr indent="-28262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3402">
                <a:latin typeface="Arial"/>
                <a:ea typeface="Arial"/>
                <a:cs typeface="Arial"/>
                <a:sym typeface="Arial"/>
              </a:rPr>
              <a:t>Infraestructura contenerizada con </a:t>
            </a:r>
            <a:r>
              <a:rPr b="1" lang="es" sz="3402">
                <a:latin typeface="Arial"/>
                <a:ea typeface="Arial"/>
                <a:cs typeface="Arial"/>
                <a:sym typeface="Arial"/>
              </a:rPr>
              <a:t>Docker y Docker Compose</a:t>
            </a:r>
            <a:r>
              <a:rPr lang="es" sz="3402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3402">
                <a:latin typeface="Arial"/>
                <a:ea typeface="Arial"/>
                <a:cs typeface="Arial"/>
                <a:sym typeface="Arial"/>
              </a:rPr>
            </a:br>
            <a:endParaRPr sz="340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3402">
                <a:latin typeface="Arial"/>
                <a:ea typeface="Arial"/>
                <a:cs typeface="Arial"/>
                <a:sym typeface="Arial"/>
              </a:rPr>
              <a:t>Características adicionales</a:t>
            </a:r>
            <a:endParaRPr b="1" sz="3402">
              <a:latin typeface="Arial"/>
              <a:ea typeface="Arial"/>
              <a:cs typeface="Arial"/>
              <a:sym typeface="Arial"/>
            </a:endParaRPr>
          </a:p>
          <a:p>
            <a:pPr indent="-28262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3402">
                <a:latin typeface="Arial"/>
                <a:ea typeface="Arial"/>
                <a:cs typeface="Arial"/>
                <a:sym typeface="Arial"/>
              </a:rPr>
              <a:t>Aplicación </a:t>
            </a:r>
            <a:r>
              <a:rPr b="1" lang="es" sz="3402">
                <a:latin typeface="Arial"/>
                <a:ea typeface="Arial"/>
                <a:cs typeface="Arial"/>
                <a:sym typeface="Arial"/>
              </a:rPr>
              <a:t>no PWA</a:t>
            </a:r>
            <a:r>
              <a:rPr lang="es" sz="3402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3402">
                <a:latin typeface="Arial"/>
                <a:ea typeface="Arial"/>
                <a:cs typeface="Arial"/>
                <a:sym typeface="Arial"/>
              </a:rPr>
            </a:br>
            <a:endParaRPr sz="3402">
              <a:latin typeface="Arial"/>
              <a:ea typeface="Arial"/>
              <a:cs typeface="Arial"/>
              <a:sym typeface="Arial"/>
            </a:endParaRPr>
          </a:p>
          <a:p>
            <a:pPr indent="-28262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3402">
                <a:latin typeface="Arial"/>
                <a:ea typeface="Arial"/>
                <a:cs typeface="Arial"/>
                <a:sym typeface="Arial"/>
              </a:rPr>
              <a:t>Despliegue local mediante contenedores (no subida a la nube).</a:t>
            </a:r>
            <a:br>
              <a:rPr lang="es" sz="3402">
                <a:latin typeface="Arial"/>
                <a:ea typeface="Arial"/>
                <a:cs typeface="Arial"/>
                <a:sym typeface="Arial"/>
              </a:rPr>
            </a:br>
            <a:endParaRPr sz="3402">
              <a:latin typeface="Arial"/>
              <a:ea typeface="Arial"/>
              <a:cs typeface="Arial"/>
              <a:sym typeface="Arial"/>
            </a:endParaRPr>
          </a:p>
          <a:p>
            <a:pPr indent="-24606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2325"/>
              <a:buFont typeface="Arial"/>
              <a:buChar char="●"/>
            </a:pPr>
            <a:r>
              <a:rPr lang="es" sz="3402">
                <a:latin typeface="Arial"/>
                <a:ea typeface="Arial"/>
                <a:cs typeface="Arial"/>
                <a:sym typeface="Arial"/>
              </a:rPr>
              <a:t>Cliente HTML5 con uso intensivo de JavaScript.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Lecciones aprendidas y aspectos destacados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005625"/>
            <a:ext cx="7038900" cy="37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Contenido: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Diseño y desarrollo de una arquitectura de microservicios desacoplada.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Definición y documentación de interfaces programáticas mediante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OpenAPI 3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Integración de múltiples tecnologías y lenguajes (Node.js y Python).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Uso combinado de bases de datos relacionales y no relacionales.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Consumo e integración de datos procedentes de APIs externas.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Empaquetado y orquestación completa de la aplicación con Docker.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Motivos para una buena calificación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Cumplimiento completo de los requisitos de la práctica.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Uso de tecnologías actuales y buenas prácticas de diseño.</a:t>
            </a:r>
            <a:br>
              <a:rPr lang="e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Solución reproducible y correctamente documentada.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